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7"/>
    <p:sldId id="266" r:id="rId18"/>
    <p:sldId id="267" r:id="rId19"/>
    <p:sldId id="268" r:id="rId20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CgjI0/N5Kx2AtJtHwsI/JkWW8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customschemas.google.com/relationships/presentationmetadata" Target="metadata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8893ea8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8893ea85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8893ea85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8893ea856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8893ea85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8893ea856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8893ea85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e8893ea85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8893ea8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8893ea856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8893ea85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8893ea856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8893ea85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8893ea856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8893ea85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8893ea856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662281" y="4362833"/>
            <a:ext cx="4167303" cy="125592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803009" y="2386283"/>
            <a:ext cx="3804534" cy="153736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684510" y="347226"/>
            <a:ext cx="3698062" cy="1943046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3258114" y="246044"/>
            <a:ext cx="3401090" cy="1763634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96242" y="2099178"/>
            <a:ext cx="3698062" cy="3797551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349782" y="633742"/>
            <a:ext cx="3035929" cy="280657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y Preprocesamiento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392562" y="633742"/>
            <a:ext cx="1757882" cy="280657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065963" y="2459147"/>
            <a:ext cx="3242650" cy="629971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Generación Adversarial Caja Blanca y Caja Negra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381876" y="1072836"/>
            <a:ext cx="995882" cy="1901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Credit Card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668569" y="1339914"/>
            <a:ext cx="995882" cy="1901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AML IBM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8084744" y="1072836"/>
            <a:ext cx="995882" cy="1901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LR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9403531" y="1072836"/>
            <a:ext cx="1136963" cy="1901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6450592" y="3211715"/>
            <a:ext cx="995882" cy="1901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CaFa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759573" y="3213976"/>
            <a:ext cx="1265976" cy="1901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Boundary Attack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6602994" y="3481059"/>
            <a:ext cx="995882" cy="1901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HSJ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7949697" y="3500110"/>
            <a:ext cx="1265976" cy="18031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Square Attack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8219791" y="1358970"/>
            <a:ext cx="995882" cy="1901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MLP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9581962" y="1358970"/>
            <a:ext cx="1136963" cy="1901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LSTM-Attention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313853" y="2500643"/>
            <a:ext cx="2085315" cy="414574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Hydra Config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conf/*.yaml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529628" y="2979531"/>
            <a:ext cx="2085315" cy="414574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 Config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conf/data/*.yaml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926472" y="3463895"/>
            <a:ext cx="2085315" cy="414574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Parámetros Ataque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conf/attack/*.yaml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1264467" y="3948259"/>
            <a:ext cx="2085315" cy="414574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Parámetros Modelo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conf/model/*.yaml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5748472" y="4531742"/>
            <a:ext cx="1892175" cy="402503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Métricas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817188" y="4531741"/>
            <a:ext cx="1892175" cy="402503"/>
          </a:xfrm>
          <a:prstGeom prst="roundRect">
            <a:avLst>
              <a:gd fmla="val 16667" name="adj"/>
            </a:avLst>
          </a:prstGeom>
          <a:solidFill>
            <a:srgbClr val="A3C5ED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Métricas Attack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6551212" y="5176802"/>
            <a:ext cx="1265976" cy="18031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evaluations.json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8084740" y="5151644"/>
            <a:ext cx="1266000" cy="180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attack.log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1"/>
          <p:cNvCxnSpPr/>
          <p:nvPr/>
        </p:nvCxnSpPr>
        <p:spPr>
          <a:xfrm flipH="1" rot="10800000">
            <a:off x="1349409" y="769478"/>
            <a:ext cx="1866000" cy="1240200"/>
          </a:xfrm>
          <a:prstGeom prst="bentConnector3">
            <a:avLst>
              <a:gd fmla="val 514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1" name="Google Shape;111;p1"/>
          <p:cNvCxnSpPr/>
          <p:nvPr/>
        </p:nvCxnSpPr>
        <p:spPr>
          <a:xfrm flipH="1" rot="10800000">
            <a:off x="4014459" y="2779499"/>
            <a:ext cx="1888500" cy="649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2" name="Google Shape;112;p1"/>
          <p:cNvSpPr/>
          <p:nvPr/>
        </p:nvSpPr>
        <p:spPr>
          <a:xfrm>
            <a:off x="3424474" y="2290904"/>
            <a:ext cx="381000" cy="227619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 rot="-5400000">
            <a:off x="7525815" y="2141712"/>
            <a:ext cx="381000" cy="396429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1"/>
          <p:cNvCxnSpPr/>
          <p:nvPr/>
        </p:nvCxnSpPr>
        <p:spPr>
          <a:xfrm rot="5400000">
            <a:off x="8880525" y="1381785"/>
            <a:ext cx="2007300" cy="8247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rchivo csv - Iconos gratis de interfaz" id="115" name="Google Shape;1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1860" y="856216"/>
            <a:ext cx="1012952" cy="1012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eño PNG Y SVG De Configuración De La Lista De Configuración Del Icono De  Trazo Para Camisetas" id="116" name="Google Shape;11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9006" y="4658100"/>
            <a:ext cx="1232781" cy="1232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 neuronal - Iconos gratis de redes" id="117" name="Google Shape;11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1512" y="1705836"/>
            <a:ext cx="852865" cy="85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"/>
          <p:cNvSpPr/>
          <p:nvPr/>
        </p:nvSpPr>
        <p:spPr>
          <a:xfrm>
            <a:off x="7050296" y="324593"/>
            <a:ext cx="326293" cy="170092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8893ea856_0_0"/>
          <p:cNvSpPr/>
          <p:nvPr/>
        </p:nvSpPr>
        <p:spPr>
          <a:xfrm>
            <a:off x="1126150" y="816025"/>
            <a:ext cx="3130800" cy="7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 : 993</a:t>
            </a:r>
            <a:endParaRPr/>
          </a:p>
        </p:txBody>
      </p:sp>
      <p:sp>
        <p:nvSpPr>
          <p:cNvPr id="124" name="Google Shape;124;g3e8893ea856_0_0"/>
          <p:cNvSpPr/>
          <p:nvPr/>
        </p:nvSpPr>
        <p:spPr>
          <a:xfrm>
            <a:off x="4942750" y="816025"/>
            <a:ext cx="3130800" cy="7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 : 10</a:t>
            </a:r>
            <a:endParaRPr/>
          </a:p>
        </p:txBody>
      </p:sp>
      <p:sp>
        <p:nvSpPr>
          <p:cNvPr id="125" name="Google Shape;125;g3e8893ea856_0_0"/>
          <p:cNvSpPr/>
          <p:nvPr/>
        </p:nvSpPr>
        <p:spPr>
          <a:xfrm>
            <a:off x="1126150" y="1934000"/>
            <a:ext cx="3130800" cy="7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3,450</a:t>
            </a:r>
            <a:endParaRPr/>
          </a:p>
        </p:txBody>
      </p:sp>
      <p:sp>
        <p:nvSpPr>
          <p:cNvPr id="126" name="Google Shape;126;g3e8893ea856_0_0"/>
          <p:cNvSpPr/>
          <p:nvPr/>
        </p:nvSpPr>
        <p:spPr>
          <a:xfrm>
            <a:off x="4942750" y="1934000"/>
            <a:ext cx="3130800" cy="7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341,532</a:t>
            </a:r>
            <a:endParaRPr/>
          </a:p>
        </p:txBody>
      </p:sp>
      <p:sp>
        <p:nvSpPr>
          <p:cNvPr id="127" name="Google Shape;127;g3e8893ea856_0_0"/>
          <p:cNvSpPr/>
          <p:nvPr/>
        </p:nvSpPr>
        <p:spPr>
          <a:xfrm>
            <a:off x="2990725" y="4425250"/>
            <a:ext cx="3130800" cy="7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3,794,807</a:t>
            </a:r>
            <a:endParaRPr/>
          </a:p>
        </p:txBody>
      </p:sp>
      <p:sp>
        <p:nvSpPr>
          <p:cNvPr id="128" name="Google Shape;128;g3e8893ea856_0_0"/>
          <p:cNvSpPr/>
          <p:nvPr/>
        </p:nvSpPr>
        <p:spPr>
          <a:xfrm>
            <a:off x="8635575" y="1310375"/>
            <a:ext cx="3130800" cy="7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344,982</a:t>
            </a:r>
            <a:endParaRPr/>
          </a:p>
        </p:txBody>
      </p:sp>
      <p:sp>
        <p:nvSpPr>
          <p:cNvPr id="129" name="Google Shape;129;g3e8893ea856_0_0"/>
          <p:cNvSpPr/>
          <p:nvPr/>
        </p:nvSpPr>
        <p:spPr>
          <a:xfrm>
            <a:off x="2990725" y="3492950"/>
            <a:ext cx="3130800" cy="7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344,982</a:t>
            </a:r>
            <a:endParaRPr/>
          </a:p>
        </p:txBody>
      </p:sp>
      <p:sp>
        <p:nvSpPr>
          <p:cNvPr id="130" name="Google Shape;130;g3e8893ea856_0_0"/>
          <p:cNvSpPr/>
          <p:nvPr/>
        </p:nvSpPr>
        <p:spPr>
          <a:xfrm>
            <a:off x="6885450" y="3831025"/>
            <a:ext cx="3130800" cy="7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 : 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e8893ea856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5599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e8893ea856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92961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e8893ea856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92961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e8893ea856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92961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e8893ea856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525" y="152400"/>
            <a:ext cx="8392961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3e8893ea856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4242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e8893ea856_0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7" cy="571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82836"/>
          </a:solidFill>
          <a:ln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Regresión Logística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C5ED"/>
                </a:solidFill>
              </a:rPr>
              <a:t>Clasificador lineal · una capa · diferenciable (compatible con CaFA, HSJ, Boundary, Square)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2000" cy="45720"/>
          </a:xfrm>
          <a:prstGeom prst="rect">
            <a:avLst/>
          </a:prstGeom>
          <a:solidFill>
            <a:srgbClr val="A3C5ED"/>
          </a:solidFill>
          <a:ln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749808"/>
            <a:ext cx="7498079" cy="5943600"/>
          </a:xfrm>
          <a:prstGeom prst="rect">
            <a:avLst/>
          </a:prstGeom>
          <a:solidFill>
            <a:srgbClr val="F2F2F2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77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2836"/>
                </a:solidFill>
              </a:rPr>
              <a:t>ARQUITECTURA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170432"/>
            <a:ext cx="402336" cy="402336"/>
          </a:xfrm>
          <a:prstGeom prst="ellipse">
            <a:avLst/>
          </a:prstGeom>
          <a:solidFill>
            <a:srgbClr val="A3C5ED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2836"/>
                </a:solidFill>
              </a:rPr>
              <a:t>x₁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1719072"/>
            <a:ext cx="402336" cy="402336"/>
          </a:xfrm>
          <a:prstGeom prst="ellipse">
            <a:avLst/>
          </a:prstGeom>
          <a:solidFill>
            <a:srgbClr val="A3C5ED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37360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2836"/>
                </a:solidFill>
              </a:rPr>
              <a:t>x₂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267712"/>
            <a:ext cx="402336" cy="402336"/>
          </a:xfrm>
          <a:prstGeom prst="ellipse">
            <a:avLst/>
          </a:prstGeom>
          <a:solidFill>
            <a:srgbClr val="A3C5ED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2836"/>
                </a:solidFill>
              </a:rPr>
              <a:t>x₃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816351"/>
            <a:ext cx="402336" cy="402336"/>
          </a:xfrm>
          <a:prstGeom prst="ellipse">
            <a:avLst/>
          </a:prstGeom>
          <a:solidFill>
            <a:srgbClr val="A3C5ED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34639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2836"/>
                </a:solidFill>
              </a:rPr>
              <a:t>·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364991"/>
            <a:ext cx="402336" cy="402336"/>
          </a:xfrm>
          <a:prstGeom prst="ellipse">
            <a:avLst/>
          </a:prstGeom>
          <a:solidFill>
            <a:srgbClr val="A3C5ED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83279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2836"/>
                </a:solidFill>
              </a:rPr>
              <a:t>xₙ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16736" y="1371600"/>
            <a:ext cx="2249424" cy="0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0240" y="11704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08096"/>
                </a:solidFill>
              </a:rPr>
              <a:t>w1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16736" y="1920240"/>
            <a:ext cx="2249424" cy="0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84832" y="17190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08096"/>
                </a:solidFill>
              </a:rPr>
              <a:t>w2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16736" y="2468880"/>
            <a:ext cx="2249424" cy="0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49424" y="226771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08096"/>
                </a:solidFill>
              </a:rPr>
              <a:t>w3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16736" y="3017520"/>
            <a:ext cx="2249424" cy="0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14016" y="2816351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08096"/>
                </a:solidFill>
              </a:rPr>
              <a:t>w4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16736" y="3566160"/>
            <a:ext cx="2249424" cy="0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78608" y="3364991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08096"/>
                </a:solidFill>
              </a:rPr>
              <a:t>wₙ</a:t>
            </a:r>
          </a:p>
        </p:txBody>
      </p:sp>
      <p:sp>
        <p:nvSpPr>
          <p:cNvPr id="29" name="Oval 28"/>
          <p:cNvSpPr/>
          <p:nvPr/>
        </p:nvSpPr>
        <p:spPr>
          <a:xfrm>
            <a:off x="3566160" y="2286000"/>
            <a:ext cx="640080" cy="640080"/>
          </a:xfrm>
          <a:prstGeom prst="ellipse">
            <a:avLst/>
          </a:prstGeom>
          <a:solidFill>
            <a:srgbClr val="A3C5ED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304288"/>
            <a:ext cx="640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82836"/>
                </a:solidFill>
              </a:rPr>
              <a:t>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299923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08096"/>
                </a:solidFill>
              </a:rPr>
              <a:t>Σwᵢxᵢ + 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06240" y="2606040"/>
            <a:ext cx="822960" cy="0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51960" y="23774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08096"/>
                </a:solidFill>
              </a:rPr>
              <a:t>logits</a:t>
            </a:r>
          </a:p>
        </p:txBody>
      </p:sp>
      <p:sp>
        <p:nvSpPr>
          <p:cNvPr id="34" name="Oval 33"/>
          <p:cNvSpPr/>
          <p:nvPr/>
        </p:nvSpPr>
        <p:spPr>
          <a:xfrm>
            <a:off x="5029200" y="2286000"/>
            <a:ext cx="640080" cy="640080"/>
          </a:xfrm>
          <a:prstGeom prst="ellipse">
            <a:avLst/>
          </a:prstGeom>
          <a:solidFill>
            <a:srgbClr val="A3C5ED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2304288"/>
            <a:ext cx="640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82836"/>
                </a:solidFill>
              </a:rPr>
              <a:t>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6048" y="299923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08096"/>
                </a:solidFill>
              </a:rPr>
              <a:t>Softmax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0" y="2606040"/>
            <a:ext cx="914400" cy="0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583680" y="2148840"/>
            <a:ext cx="0" cy="457200"/>
          </a:xfrm>
          <a:prstGeom prst="line">
            <a:avLst/>
          </a:prstGeom>
          <a:ln w="1270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583680" y="2011680"/>
            <a:ext cx="402336" cy="40233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201168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P(legítimo)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0" y="2606040"/>
            <a:ext cx="0" cy="731520"/>
          </a:xfrm>
          <a:prstGeom prst="line">
            <a:avLst/>
          </a:prstGeom>
          <a:ln w="1270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583680" y="3200400"/>
            <a:ext cx="402336" cy="40233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320040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P(fraude)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206240"/>
            <a:ext cx="713232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251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2836"/>
                </a:solidFill>
              </a:rPr>
              <a:t>f(x) = Wx + b    →    ŷ = Softmax(f(x))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8120" y="749808"/>
            <a:ext cx="420624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79" y="7772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2836"/>
                </a:solidFill>
              </a:rPr>
              <a:t>ESPECIFICACIONES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55279" y="1097280"/>
            <a:ext cx="3840480" cy="347472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11338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Arquitectura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15087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Capas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1508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1 × Linear(input_dim → 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1837943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Activación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183794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Softmax (implícita en CrossEntropy)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216712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Parámetros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21671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input_dim × 2  +  2  (bias)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24963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24963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28254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Optimizador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28254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Adam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154679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lr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315467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HPO: [1×10⁻⁵,  1×10⁻¹]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34838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weight_decay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0" y="34838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HPO: [1×10⁻⁶,  1×10⁻²]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38130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Épocas máx.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38130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100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79" y="4142231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Batch size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41422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4 096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44714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HPO trials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92640" y="44714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50  (Optuna)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79" y="4800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Monitor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48006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AUC-ROC (validación)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79" y="5129783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92640" y="512978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79" y="545896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Diferenciable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92640" y="54589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✓  Sí  →  white-box + black-box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57881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Ataques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40" y="5788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CaFA · HSJ · Boundary · Square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63840" y="5989320"/>
            <a:ext cx="4069080" cy="594360"/>
          </a:xfrm>
          <a:prstGeom prst="rect">
            <a:avLst/>
          </a:prstGeom>
          <a:solidFill>
            <a:srgbClr val="E8F4FF"/>
          </a:solidFill>
          <a:ln w="12700"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55279" y="601675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82836"/>
                </a:solidFill>
              </a:rPr>
              <a:t>Modelo más interpretable. Sirve como línea base para comparar la robustez de los modelos más complejos.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82836"/>
          </a:solidFill>
          <a:ln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MLP — Perceptrón Multicapa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C5ED"/>
                </a:solidFill>
              </a:rPr>
              <a:t>Red neuronal profunda · BatchNorm + ReLU · diferenciable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2000" cy="45720"/>
          </a:xfrm>
          <a:prstGeom prst="rect">
            <a:avLst/>
          </a:prstGeom>
          <a:solidFill>
            <a:srgbClr val="A3C5ED"/>
          </a:solidFill>
          <a:ln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749808"/>
            <a:ext cx="7498079" cy="5943600"/>
          </a:xfrm>
          <a:prstGeom prst="rect">
            <a:avLst/>
          </a:prstGeom>
          <a:solidFill>
            <a:srgbClr val="F2F2F2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77240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2836"/>
                </a:solidFill>
              </a:rPr>
              <a:t>ARQUITECTURA  (n_layers = 3, hidden_dim = 128)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225296"/>
            <a:ext cx="2011680" cy="475488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280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82836"/>
                </a:solidFill>
              </a:rPr>
              <a:t>INPUT  (input_dim)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1700784"/>
            <a:ext cx="0" cy="164592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1865376"/>
            <a:ext cx="2011680" cy="475488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BatchNorm1d (input_dim)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49039" y="2340864"/>
            <a:ext cx="0" cy="164592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2505456"/>
            <a:ext cx="2011680" cy="475488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Linear  input_dim → 128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2980944"/>
            <a:ext cx="0" cy="164592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0" y="3145535"/>
            <a:ext cx="2011680" cy="475488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2003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ReLU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49039" y="3621023"/>
            <a:ext cx="0" cy="164592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43200" y="3785615"/>
            <a:ext cx="2011680" cy="475488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8404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Linear  128 → 128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49039" y="4261104"/>
            <a:ext cx="0" cy="164592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43200" y="4425696"/>
            <a:ext cx="2011680" cy="475488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44805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ReLU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49039" y="4901183"/>
            <a:ext cx="0" cy="164592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43200" y="5065775"/>
            <a:ext cx="2011680" cy="475488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51206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Linear  128 → 2  (logits)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49039" y="5541263"/>
            <a:ext cx="0" cy="164592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743200" y="5705855"/>
            <a:ext cx="2011680" cy="475488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7607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82836"/>
                </a:solidFill>
              </a:rPr>
              <a:t>Softmax  →  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3785615"/>
            <a:ext cx="2286000" cy="1115567"/>
          </a:xfrm>
          <a:prstGeom prst="rect">
            <a:avLst/>
          </a:prstGeom>
          <a:solidFill>
            <a:srgbClr val="D8EAF8"/>
          </a:solidFill>
          <a:ln w="12700"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65192" y="3831335"/>
            <a:ext cx="214884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82836"/>
                </a:solidFill>
              </a:rPr>
              <a:t>× (n_layers − 1)
repeticiones
(HPO: 2 a 5 capas)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749808"/>
            <a:ext cx="420624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7772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2836"/>
                </a:solidFill>
              </a:rPr>
              <a:t>ESPECIFICACIONES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1097280"/>
            <a:ext cx="3840480" cy="347472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11338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Arquitectura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15087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Normaliz.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1508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BatchNorm1d en capa de entrada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18105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Capas ocultas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18105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n_layers  ∈  [2, 5]  (HPO)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21122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Neuronas/capa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1122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hidden_dim  ∈  [32, 512]  (HPO)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2414015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Activación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241401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ReLU (ocultas) · Softmax (salida)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271576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27157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30175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Pérdida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30175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CrossEntropy ponderada (class_weight)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3192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Optimizador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33192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Adam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36210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lr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36210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HPO: [1×10⁻⁷,  1×10⁻¹]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39227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weight_decay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9227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HPO: [1×10⁻⁶,  1×10⁻¹]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422452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Épocas máx.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2245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45262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Batch size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45262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2 048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48280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HPO trials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48280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100  (Optuna)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5129783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Monitor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0" y="512978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AUC-ROC (validación)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54315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54315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79" y="57332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Diferenciable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57332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✓  Sí  →  white-box + black-box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0" y="6035040"/>
            <a:ext cx="4069080" cy="548640"/>
          </a:xfrm>
          <a:prstGeom prst="rect">
            <a:avLst/>
          </a:prstGeom>
          <a:solidFill>
            <a:srgbClr val="E8F4FF"/>
          </a:solidFill>
          <a:ln w="12700"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79" y="606247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82836"/>
                </a:solidFill>
              </a:rPr>
              <a:t>La BatchNorm en entrada estabiliza el entrenamiento con datos tabulares de distinta escala.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82836"/>
          </a:solidFill>
          <a:ln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LSTM con Mecanismo de Atención (LSTM-Att.)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C5ED"/>
                </a:solidFill>
              </a:rPr>
              <a:t>Red recurrente · atención aditiva · diferenciable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2000" cy="45720"/>
          </a:xfrm>
          <a:prstGeom prst="rect">
            <a:avLst/>
          </a:prstGeom>
          <a:solidFill>
            <a:srgbClr val="A3C5ED"/>
          </a:solidFill>
          <a:ln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749808"/>
            <a:ext cx="7498079" cy="5943600"/>
          </a:xfrm>
          <a:prstGeom prst="rect">
            <a:avLst/>
          </a:prstGeom>
          <a:solidFill>
            <a:srgbClr val="F2F2F2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77240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2836"/>
                </a:solidFill>
              </a:rPr>
              <a:t>ARQUITECTURA  (hidden_dim = 64, n_lstm_layers = 2, dropout = 0.3)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005840"/>
            <a:ext cx="2560320" cy="4572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0424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82836"/>
                </a:solidFill>
              </a:rPr>
              <a:t>INPUT  (batch, input_dim)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1463040"/>
            <a:ext cx="0" cy="128016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77440" y="1591056"/>
            <a:ext cx="2560320" cy="438912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627632"/>
            <a:ext cx="25603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2836"/>
                </a:solidFill>
              </a:rPr>
              <a:t>Reshape  →  (batch, seq_len, step_dim)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2029968"/>
            <a:ext cx="0" cy="128016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77440" y="2157984"/>
            <a:ext cx="2560320" cy="841248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194560"/>
            <a:ext cx="2560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2836"/>
                </a:solidFill>
              </a:rPr>
              <a:t>LSTM × 2 capas
hidden_dim = 64
dropout = 0.3
→  (batch, seq, 64)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0" y="2999232"/>
            <a:ext cx="0" cy="128016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377440" y="3127248"/>
            <a:ext cx="2560320" cy="804672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16382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2836"/>
                </a:solidFill>
              </a:rPr>
              <a:t>Atención Aditiva
tanh → Linear(64,1) → Softmax
→  Σαₜhₜ  =  contexto (batch,64)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0" y="3931920"/>
            <a:ext cx="0" cy="128016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377440" y="4059936"/>
            <a:ext cx="2560320" cy="438912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4096512"/>
            <a:ext cx="25603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2836"/>
                </a:solidFill>
              </a:rPr>
              <a:t>Dropout (0.3)  +  Linear (64 → 2)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0" y="4498848"/>
            <a:ext cx="0" cy="128016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377440" y="4626864"/>
            <a:ext cx="2560320" cy="438912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4663440"/>
            <a:ext cx="25603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82836"/>
                </a:solidFill>
              </a:rPr>
              <a:t>OUTPUT  logits  →  Softmax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606040"/>
            <a:ext cx="23317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263347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2836"/>
                </a:solidFill>
              </a:rPr>
              <a:t>Atención Aditiva: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29443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82836"/>
                </a:solidFill>
              </a:rPr>
              <a:t>eₜ = tanh(W·hₜ + 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6499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82836"/>
                </a:solidFill>
              </a:rPr>
              <a:t>αₜ = softmax(e)ₜ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378561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82836"/>
                </a:solidFill>
              </a:rPr>
              <a:t>c  = Σ αₜ · hₜ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749808"/>
            <a:ext cx="420624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7772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2836"/>
                </a:solidFill>
              </a:rPr>
              <a:t>ESPECIFICACIONES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1097280"/>
            <a:ext cx="3840480" cy="347472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11338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Arquitectura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15087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Capas LSTM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1508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n_lstm_layers  ∈  [1, 4]  (HPO)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17922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Unidades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17922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hidden_dim  ∈  [32, 256]  (HPO)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20756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Dropout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075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∈  [0.0,  0.5]  (HPO)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23591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Seq. length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2359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1  (transacción como secuencia)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2642615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Atención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264261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Aditiva  — tanh + Softmax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29260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926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32095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Pérdida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32095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CrossEntropy ponderada (class_weight)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349300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Optimizador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34930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Adam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37764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lr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3776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HPO: [1×10⁻⁵,  1×10⁻²]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4059935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weight_decay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05993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HPO: [1×10⁻⁶,  1×10⁻²]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43434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Épocas máx.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4343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100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46268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Batch size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46268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1 024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4910327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HPO trials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491032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50  (Optuna)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51937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Monitor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193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AUC-ROC (validación)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54772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54772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5760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Diferenciable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57607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✓  Sí  →  white-box + black-box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63840" y="6035040"/>
            <a:ext cx="4069080" cy="548640"/>
          </a:xfrm>
          <a:prstGeom prst="rect">
            <a:avLst/>
          </a:prstGeom>
          <a:solidFill>
            <a:srgbClr val="E8F4FF"/>
          </a:solidFill>
          <a:ln w="12700"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79" y="606247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82836"/>
                </a:solidFill>
              </a:rPr>
              <a:t>El mecanismo de atención pondera la importancia de cada paso temporal del LSTM antes de clasificar.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82836"/>
          </a:solidFill>
          <a:ln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XGBoost — Gradient Boosting de Árboles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C5ED"/>
                </a:solidFill>
              </a:rPr>
              <a:t>Ensamble de árboles · NO diferenciable · solo ataques black-box (HSJ, Boundary, Square)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2000" cy="45720"/>
          </a:xfrm>
          <a:prstGeom prst="rect">
            <a:avLst/>
          </a:prstGeom>
          <a:solidFill>
            <a:srgbClr val="A3C5ED"/>
          </a:solidFill>
          <a:ln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749808"/>
            <a:ext cx="7498079" cy="5943600"/>
          </a:xfrm>
          <a:prstGeom prst="rect">
            <a:avLst/>
          </a:prstGeom>
          <a:solidFill>
            <a:srgbClr val="F2F2F2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77240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2836"/>
                </a:solidFill>
              </a:rPr>
              <a:t>ARQUITECTURA  (n_estimators = 100, max_depth = 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005840"/>
            <a:ext cx="2377440" cy="4572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03327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82836"/>
                </a:solidFill>
              </a:rPr>
              <a:t>INPUT  vector de features 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1463040"/>
            <a:ext cx="0" cy="320040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" y="1783080"/>
            <a:ext cx="1554480" cy="594360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1051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Árbol 1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783080" y="1463040"/>
            <a:ext cx="1965959" cy="320040"/>
          </a:xfrm>
          <a:prstGeom prst="line">
            <a:avLst/>
          </a:prstGeom>
          <a:ln w="1270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4640" y="1783080"/>
            <a:ext cx="1554480" cy="594360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81051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Árbol 2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611880" y="1463040"/>
            <a:ext cx="137159" cy="320040"/>
          </a:xfrm>
          <a:prstGeom prst="line">
            <a:avLst/>
          </a:prstGeom>
          <a:ln w="1270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94960" y="1783080"/>
            <a:ext cx="1554480" cy="594360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81051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Árbol K
(K=100)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49039" y="1463040"/>
            <a:ext cx="2423161" cy="320040"/>
          </a:xfrm>
          <a:prstGeom prst="line">
            <a:avLst/>
          </a:prstGeom>
          <a:ln w="1270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08096"/>
                </a:solidFill>
              </a:rPr>
              <a:t>···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06040" y="2926080"/>
            <a:ext cx="2286000" cy="502920"/>
          </a:xfrm>
          <a:prstGeom prst="roundRect">
            <a:avLst/>
          </a:prstGeom>
          <a:solidFill>
            <a:srgbClr val="A3C5ED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95351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Σ predicciones ponderadas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80" y="2377440"/>
            <a:ext cx="1965959" cy="548640"/>
          </a:xfrm>
          <a:prstGeom prst="line">
            <a:avLst/>
          </a:prstGeom>
          <a:ln w="1270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57600" y="2377440"/>
            <a:ext cx="91439" cy="548640"/>
          </a:xfrm>
          <a:prstGeom prst="line">
            <a:avLst/>
          </a:prstGeom>
          <a:ln w="1270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749039" y="2377440"/>
            <a:ext cx="2423161" cy="548640"/>
          </a:xfrm>
          <a:prstGeom prst="line">
            <a:avLst/>
          </a:prstGeom>
          <a:ln w="1270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49039" y="3429000"/>
            <a:ext cx="0" cy="365760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606040" y="3794760"/>
            <a:ext cx="2286000" cy="475488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382219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Sigmoid  →  P(fraude)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49039" y="4270248"/>
            <a:ext cx="0" cy="347472"/>
          </a:xfrm>
          <a:prstGeom prst="line">
            <a:avLst/>
          </a:prstGeom>
          <a:ln w="15240">
            <a:solidFill>
              <a:srgbClr val="0828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606040" y="4617720"/>
            <a:ext cx="2286000" cy="4572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40" y="464515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82836"/>
                </a:solidFill>
              </a:rPr>
              <a:t>OUTPUT: P(legítimo) · P(fraude)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566160"/>
            <a:ext cx="2148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A3C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5935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82836"/>
                </a:solidFill>
              </a:rPr>
              <a:t>ÁRBOL DE DECISIÓN: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886200"/>
            <a:ext cx="1965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82836"/>
                </a:solidFill>
              </a:rPr>
              <a:t>if  x[j] &gt; θ  →  rama derecha
else           →  rama izquierda
Cada hoja devuelve un
valor de predicción.
max_depth = 6
→ hasta 64 hojas por árbol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66360" y="3566160"/>
            <a:ext cx="2423160" cy="2560320"/>
          </a:xfrm>
          <a:prstGeom prst="rect">
            <a:avLst/>
          </a:prstGeom>
          <a:solidFill>
            <a:srgbClr val="FFF0F0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35935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A2222"/>
                </a:solidFill>
              </a:rPr>
              <a:t>⚠  NO DIFERENCIABLE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913632"/>
            <a:ext cx="2286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71111"/>
                </a:solidFill>
              </a:rPr>
              <a:t>Las decisiones x[j] &gt; θ son
funciones escalón discontinuas.
No existe ∂f/∂x.
→ CaFA incompatible.
→ HSJ, Boundary y Square
   Attack SÍ compatibles
   (solo consultan predicción).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749808"/>
            <a:ext cx="420624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79" y="7772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2836"/>
                </a:solidFill>
              </a:rPr>
              <a:t>ESPECIFICACIONES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79" y="1097280"/>
            <a:ext cx="3840480" cy="347472"/>
          </a:xfrm>
          <a:prstGeom prst="roundRect">
            <a:avLst/>
          </a:prstGeom>
          <a:solidFill>
            <a:srgbClr val="A3C5ED"/>
          </a:solidFill>
          <a:ln w="1524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11338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2836"/>
                </a:solidFill>
              </a:rPr>
              <a:t>Arquitectura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15087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Tipo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1508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XGBClassifier  (xgboost)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17922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Estimadores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17922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n_estimators  ∈  [100, 600]  (HPO)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20756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Profundidad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2075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max_depth  ∈  [3, 10]  (HPO)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23591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Learning 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359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∈  [0.01,  0.3]  (HPO)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2642615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min_child_w.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64261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∈  [1, 20]  (HPO)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29260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subsample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2926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∈  [0.5, 1.0]  (HPO)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32095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colsample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32095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∈  [0.5, 1.0]  (HPO)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349300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4930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7764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Objetivo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3776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binary:logistic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4059935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Métrica eval.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405993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AUC-PR  (aucpr)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43434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Desbalance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4343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scale_pos_weight = peso minoritaria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46268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46268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910327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HPO trials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40" y="491032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30  (Optuna TPE, seed=42)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279" y="51937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5193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79" y="54772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Diferenciable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2640" y="54772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✗  No  →  solo black-box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79" y="57607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8096"/>
                </a:solidFill>
              </a:rPr>
              <a:t>Ataques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57607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82836"/>
                </a:solidFill>
              </a:rPr>
              <a:t>HSJ · Boundary · Square Attack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63840" y="6035040"/>
            <a:ext cx="4069080" cy="548640"/>
          </a:xfrm>
          <a:prstGeom prst="rect">
            <a:avLst/>
          </a:prstGeom>
          <a:solidFill>
            <a:srgbClr val="FFF0F0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55279" y="606247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2222"/>
                </a:solidFill>
              </a:rPr>
              <a:t>XGBoost usa gradientes para ENTRENAR (ajustar árboles), pero no los expone sobre el input. Su función de predicción es discontinua.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2026-05-20T16:40:23Z</dcterms:created>
  <dc:creator>Javier Omar Chavarría Humareda</dc:creator>
</cp:coreProperties>
</file>