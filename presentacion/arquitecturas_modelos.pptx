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3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1E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Arquitecturas de Modelos de Clasificación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Framework de Evaluación de Robustez Adversarial en Detección de Fraude Financiero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471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3291840"/>
            <a:ext cx="2194560" cy="502920"/>
          </a:xfrm>
          <a:prstGeom prst="roundRect">
            <a:avLst/>
          </a:prstGeom>
          <a:solidFill>
            <a:srgbClr val="4C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40" y="32918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335584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91840"/>
            <a:ext cx="2194560" cy="502920"/>
          </a:xfrm>
          <a:prstGeom prst="roundRect">
            <a:avLst/>
          </a:prstGeom>
          <a:solidFill>
            <a:srgbClr val="48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69080" y="32918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335584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MLP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291840"/>
            <a:ext cx="2194560" cy="502920"/>
          </a:xfrm>
          <a:prstGeom prst="roundRect">
            <a:avLst/>
          </a:prstGeom>
          <a:solidFill>
            <a:srgbClr val="BB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0" y="32918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335584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LSTM-Attention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291840"/>
            <a:ext cx="2194560" cy="502920"/>
          </a:xfrm>
          <a:prstGeom prst="roundRect">
            <a:avLst/>
          </a:prstGeom>
          <a:solidFill>
            <a:srgbClr val="FF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32918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3355848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</a:rPr>
              <a:t>PyTorch Lightning  ·  XGBoost  ·  Optimización: Optuna  ·  Entrenamiento: hasta 100 épocas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</a:rPr>
              <a:t>Datasets: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720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Credit Card 2023 · AMLworld HI-Small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560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</a:rPr>
              <a:t>Preprocesamiento: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5604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One-Hot Encoding · BatchNorm · SMOTE (variante)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009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</a:rPr>
              <a:t>Optimizador: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4009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Adam  (lr variable según HPO)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2414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</a:rPr>
              <a:t>Criterio: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2414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Cross-Entropy ponderada por clase  ·  AUC-ROC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54864" cy="5120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Regresión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93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Clasificador lineal diferenciable · baseline interpretable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Modelos de Clasificación para Detección de Fraude Financiero  ·  Framework Adversarial CaFA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868680"/>
            <a:ext cx="713232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ARQUITECTURA</a:t>
            </a:r>
          </a:p>
        </p:txBody>
      </p:sp>
      <p:sp>
        <p:nvSpPr>
          <p:cNvPr id="9" name="Oval 8"/>
          <p:cNvSpPr/>
          <p:nvPr/>
        </p:nvSpPr>
        <p:spPr>
          <a:xfrm>
            <a:off x="1033272" y="1216152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25272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x₁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2" y="1764792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0136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x₂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2313432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3500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x₃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" y="2862072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89864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·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" y="3410712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44728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xₙ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35608" y="1417320"/>
            <a:ext cx="2267712" cy="1161288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13716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35608" y="1965960"/>
            <a:ext cx="2267712" cy="612648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31720" y="20299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35608" y="2514600"/>
            <a:ext cx="2267712" cy="64008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77440" y="268833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w3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435608" y="2578608"/>
            <a:ext cx="2267712" cy="484632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23160" y="33467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w4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435608" y="2578608"/>
            <a:ext cx="2267712" cy="1033272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468880" y="40050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wₙ</a:t>
            </a:r>
          </a:p>
        </p:txBody>
      </p:sp>
      <p:sp>
        <p:nvSpPr>
          <p:cNvPr id="29" name="Oval 28"/>
          <p:cNvSpPr/>
          <p:nvPr/>
        </p:nvSpPr>
        <p:spPr>
          <a:xfrm>
            <a:off x="3657599" y="2258568"/>
            <a:ext cx="640080" cy="640080"/>
          </a:xfrm>
          <a:prstGeom prst="ellipse">
            <a:avLst/>
          </a:prstGeom>
          <a:solidFill>
            <a:srgbClr val="173A5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9" y="2350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063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Σwᵢxᵢ + 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97680" y="2578608"/>
            <a:ext cx="822960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43400" y="2331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logits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258568"/>
            <a:ext cx="640080" cy="640080"/>
          </a:xfrm>
          <a:prstGeom prst="ellipse">
            <a:avLst/>
          </a:prstGeom>
          <a:solidFill>
            <a:srgbClr val="0C406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350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30175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Softmax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60720" y="2578608"/>
            <a:ext cx="640080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400800" y="2029968"/>
            <a:ext cx="137160" cy="54864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611112" y="1828800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1892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P(legítimo)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2578608"/>
            <a:ext cx="137160" cy="54864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611112" y="2926079"/>
            <a:ext cx="402336" cy="402336"/>
          </a:xfrm>
          <a:prstGeom prst="ellipse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29900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</a:rPr>
              <a:t>P(fraude)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0233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+ b (bias)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868680"/>
            <a:ext cx="434340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79" y="8961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ESPECIFICACIONES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126187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Capa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126187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Linear(input_dim →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1664207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Función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166420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f(x) = Wx + 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2066543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Activación salida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2066543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Softmax (implícita en
Cross-Entropy)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24688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Parámetros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2468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input_dim × 2 + 2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871215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Pérdida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2871215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Cross-Entropy ponderada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32735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Optimizador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2735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3675887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lr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3675887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HPO: [1e-5, 1e-1]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407822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weight_decay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407822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HPO: [1e-6, 1e-2]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4480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Épocas máx.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44805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6679" y="488289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Batch size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488289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4 096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79" y="52852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Monitor HPO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52852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AUC-ROC (val)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6679" y="568756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Diferenciable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6875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 Sí — compatible con
ataques white-box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35240" y="5559552"/>
            <a:ext cx="4206240" cy="1005840"/>
          </a:xfrm>
          <a:prstGeom prst="roundRect">
            <a:avLst/>
          </a:prstGeom>
          <a:solidFill>
            <a:srgbClr val="0C2A4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26679" y="557784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La regresión logística es el clasificador más simple e interpretable. Al ser completamente diferenciable, todos los ataques adversariales (white-box y black-box) son aplicables.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54864" cy="5120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MLP — Perceptrón Multicapa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93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Red neuronal profunda con BatchNorm y activaciones ReLU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Modelos de Clasificación para Detección de Fraude Financiero  ·  Framework Adversarial CaFA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868680"/>
            <a:ext cx="713232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ARQUITECTURA  (n_layers=3, hidden_dim=128)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68580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71323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INPUT
input_dim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80459" y="1188720"/>
            <a:ext cx="0" cy="2286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17520" y="141732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44475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DF8"/>
                </a:solidFill>
              </a:rPr>
              <a:t>BatchNorm1d
(input_dim)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80459" y="1920240"/>
            <a:ext cx="0" cy="36576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17520" y="228600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31343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Linear
input→128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80459" y="2788920"/>
            <a:ext cx="0" cy="18288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17520" y="297180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99923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ReLU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80459" y="3474720"/>
            <a:ext cx="0" cy="18288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17520" y="365760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68503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Linear
128→128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80459" y="4160520"/>
            <a:ext cx="0" cy="18288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017520" y="434340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37083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ReLU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80459" y="4846320"/>
            <a:ext cx="0" cy="2286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17520" y="507492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510235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Linear
128→2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80459" y="5577840"/>
            <a:ext cx="0" cy="32004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17520" y="5897880"/>
            <a:ext cx="13258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5925312"/>
            <a:ext cx="13258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OUTPUT
(logits)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53128" y="3584448"/>
            <a:ext cx="2011680" cy="1298448"/>
          </a:xfrm>
          <a:prstGeom prst="roundRect">
            <a:avLst/>
          </a:prstGeom>
          <a:solidFill>
            <a:srgbClr val="0D2A1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657600"/>
            <a:ext cx="19202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34D399"/>
                </a:solidFill>
              </a:rPr>
              <a:t>× (n_layers − 1)
= 2 repeticiones
(configurable 2–5)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868680"/>
            <a:ext cx="434340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8961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</a:rPr>
              <a:t>ESPECIFICACIONES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Capas ocultas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n_layers (HPO: 2–5)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1664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Neuronas/capa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16642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hidden_dim (HPO: 32–512)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206654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Normalización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206654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BatchNorm1d en entrada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Activación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ReLU (capas ocultas)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28712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Activación salida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287121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Softmax (en pérdida)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273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Pérdida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3273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Cross-Entropy ponderada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36758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Optimizador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4078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lr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HPO: [1e-7, 1e-1]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weight_decay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HPO: [1e-6, 1e-1]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48828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Épocas máx.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8828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5285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Batch size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2 048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Monitor HPO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AUC-ROC (val)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6089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Diferenciable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6089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✓  Sí — white-box OK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35240" y="5559552"/>
            <a:ext cx="4206240" cy="1005840"/>
          </a:xfrm>
          <a:prstGeom prst="roundRect">
            <a:avLst/>
          </a:prstGeom>
          <a:solidFill>
            <a:srgbClr val="0A2A18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79" y="557784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MLP con 3 capas ocultas de 128 neuronas cada una. La BatchNorm en entrada estabiliza el entrenamiento con datos tabulares. La pérdida ponderada compensa el desbalance de clases.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54864" cy="5120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LSTM con Mecanismo de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93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Red recurrente con atención aditiva para capturar dependencias temporales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Modelos de Clasificación para Detección de Fraude Financiero  ·  Framework Adversarial CaFA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868680"/>
            <a:ext cx="713232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ARQUITECTURA  (hidden_dim=64, n_lstm_layers=2, dropout=0.3)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463040"/>
            <a:ext cx="2286000" cy="457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813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INPUT
(batch, input_dim)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1920240"/>
            <a:ext cx="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1920240"/>
            <a:ext cx="2286000" cy="457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385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8BDF8"/>
                </a:solidFill>
              </a:rPr>
              <a:t>Reshape
(batch, seq_len, step_dim)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2377440"/>
            <a:ext cx="0" cy="41148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2788920"/>
            <a:ext cx="2286000" cy="658368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07208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78BFA"/>
                </a:solidFill>
              </a:rPr>
              <a:t>LSTM × 2 capas
hidden=64  dropout=0.3
(batch, seq, 64)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3447287"/>
            <a:ext cx="0" cy="438913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" y="3886200"/>
            <a:ext cx="228600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7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C4E99"/>
                </a:solidFill>
              </a:rPr>
              <a:t>Atención Aditiva
tanh → Linear(64,1)
→ Softmax → Σwᵢhᵢ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4544568"/>
            <a:ext cx="0" cy="393192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4937760"/>
            <a:ext cx="2286000" cy="457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5604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context vector
(batch, 64)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03120" y="5394960"/>
            <a:ext cx="0" cy="4572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0120" y="5440680"/>
            <a:ext cx="2286000" cy="457200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5896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78BFA"/>
                </a:solidFill>
              </a:rPr>
              <a:t>Dropout(0.3)
Linear(64→2)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5897880"/>
            <a:ext cx="0" cy="27432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" y="6172200"/>
            <a:ext cx="2286000" cy="457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619048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OUTPUT  logits
(batch, 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651760"/>
            <a:ext cx="3749039" cy="1645920"/>
          </a:xfrm>
          <a:prstGeom prst="roundRect">
            <a:avLst/>
          </a:prstGeom>
          <a:solidFill>
            <a:srgbClr val="17103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6700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CELDA LSTM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9718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Olvido (f)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971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σ(Wf·[h,x]+bf)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2918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Entrada (i)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2918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σ(Wi·[h,x]+bi)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6118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Celda (c̃)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6118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tanh(Wc·[h,x]+bc)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3931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Salida (o)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9319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σ(Wo·[h,x]+bo)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4389120"/>
            <a:ext cx="3749039" cy="1280160"/>
          </a:xfrm>
          <a:prstGeom prst="roundRect">
            <a:avLst/>
          </a:prstGeom>
          <a:solidFill>
            <a:srgbClr val="2A102A"/>
          </a:solidFill>
          <a:ln w="15240">
            <a:solidFill>
              <a:srgbClr val="EC4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4407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4E99"/>
                </a:solidFill>
              </a:rPr>
              <a:t>ATENCIÓN ADITIVA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71830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1. score(hₜ) = tanh(W·hₜ + b)   →   e ∈ 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0109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2. αₜ = softmax(e)               →   pesos de atención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3035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3. c  = Σ αₜ · hₜ               →   vector de contexto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868680"/>
            <a:ext cx="434340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8961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</a:rPr>
              <a:t>ESPECIFICACIONES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Capas LSTM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n_lstm_layers (HPO: 1–4)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162763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Neuronas LSTM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162763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hidden_dim (HPO: 32–256)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19933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Dropout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199339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[0.0, 0.5]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23591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Atención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23591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Aditiva  (Bahdanau-like)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27249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Activación att.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27249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tanh + Softmax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30906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Seq. length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30906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 (dato tabular como seq.)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34564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Activación salida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34564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Softmax (en pérdida)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38221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Pérdida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382219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Cross-Entropy ponderada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4187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Optimizador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41879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Adam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45537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lr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45537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[1e-5, 1e-2]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4919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weight_decay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64040" y="4919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[1e-6, 1e-2]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79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Épocas máx.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56509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Batch size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56509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1 024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79" y="60167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Diferenciable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64040" y="6016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✓  Sí — white-box OK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35240" y="5559552"/>
            <a:ext cx="4206240" cy="1005840"/>
          </a:xfrm>
          <a:prstGeom prst="roundRect">
            <a:avLst/>
          </a:prstGeom>
          <a:solidFill>
            <a:srgbClr val="1A0D3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26679" y="557784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LSTM con atención aditiva. Al tratar cada transacción como una secuencia de longitud 1, el mecanismo de atención pondera la importancia de cada paso oculto del LSTM.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54864" cy="512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XGBoost — Gradient Boosting de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93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Ensamble de árboles de decisión entrenados con boosting por gradiente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Modelos de Clasificación para Detección de Fraude Financiero  ·  Framework Adversarial CaFA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868680"/>
            <a:ext cx="713232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ARQUITECTURA  (n_estimators=100, max_depth=6)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51560"/>
            <a:ext cx="219456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0881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INPUT
vector de features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1554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Árbol 1
(residuo inicial)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1554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9568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Árbol 2
(corrige errores)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4A3B8"/>
                </a:solidFill>
              </a:rPr>
              <a:t>···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920240"/>
            <a:ext cx="1554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568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Árbol K
(K=100)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29718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00837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85"/>
                </a:solidFill>
              </a:rPr>
              <a:t>Σ predicciones
ponderadas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8862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92277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Sigmoid / Softprob
P(fraude)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754880"/>
            <a:ext cx="2011680" cy="47548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79145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OUTPUT
P(legítimo) / P(fraude)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234440" y="1527048"/>
            <a:ext cx="594360" cy="393192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1527048"/>
            <a:ext cx="1143000" cy="393192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1527048"/>
            <a:ext cx="3337560" cy="393192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34440" y="2514600"/>
            <a:ext cx="1143000" cy="45720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377440" y="2514600"/>
            <a:ext cx="594360" cy="45720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377440" y="2514600"/>
            <a:ext cx="2788920" cy="45720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377440" y="3474720"/>
            <a:ext cx="0" cy="41148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4389120"/>
            <a:ext cx="0" cy="36576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57600" y="2926080"/>
            <a:ext cx="3566160" cy="3474720"/>
          </a:xfrm>
          <a:prstGeom prst="roundRect">
            <a:avLst/>
          </a:prstGeom>
          <a:solidFill>
            <a:srgbClr val="2A1A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2944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DETALLE: ÁRBOL DE DECISIÓN</a:t>
            </a:r>
          </a:p>
        </p:txBody>
      </p:sp>
      <p:sp>
        <p:nvSpPr>
          <p:cNvPr id="34" name="Oval 33"/>
          <p:cNvSpPr/>
          <p:nvPr/>
        </p:nvSpPr>
        <p:spPr>
          <a:xfrm>
            <a:off x="5184648" y="3172968"/>
            <a:ext cx="512064" cy="512064"/>
          </a:xfrm>
          <a:prstGeom prst="ellipse">
            <a:avLst/>
          </a:prstGeom>
          <a:solidFill>
            <a:srgbClr val="3A2A0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3246120"/>
            <a:ext cx="512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BBF24"/>
                </a:solidFill>
              </a:rPr>
              <a:t>x[j]&gt;θ</a:t>
            </a:r>
          </a:p>
        </p:txBody>
      </p:sp>
      <p:sp>
        <p:nvSpPr>
          <p:cNvPr id="36" name="Oval 35"/>
          <p:cNvSpPr/>
          <p:nvPr/>
        </p:nvSpPr>
        <p:spPr>
          <a:xfrm>
            <a:off x="4581144" y="3849624"/>
            <a:ext cx="438912" cy="438912"/>
          </a:xfrm>
          <a:prstGeom prst="ellipse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61304" y="3849624"/>
            <a:ext cx="438912" cy="438912"/>
          </a:xfrm>
          <a:prstGeom prst="ellipse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1144" y="388620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hoja
0.3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1304" y="3886200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hoja
0.8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855464" y="3520440"/>
            <a:ext cx="329184" cy="329184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96712" y="3520440"/>
            <a:ext cx="329184" cy="329184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46320" y="37307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</a:rPr>
              <a:t>SÍ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7307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87185"/>
                </a:solidFill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A3B8"/>
                </a:solidFill>
              </a:rPr>
              <a:t>max_depth=6
→ hasta 64 hojas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4892040"/>
            <a:ext cx="3474720" cy="1600200"/>
          </a:xfrm>
          <a:prstGeom prst="roundRect">
            <a:avLst/>
          </a:prstGeom>
          <a:solidFill>
            <a:srgbClr val="2A0808"/>
          </a:solidFill>
          <a:ln w="15240">
            <a:solidFill>
              <a:srgbClr val="F8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4910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87185"/>
                </a:solidFill>
              </a:rPr>
              <a:t>⚠  NO DIFERENCIABLE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5193792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Las decisiones x[j] &gt; θ son funciones
escalón (discontinuas). No existe ∂f/∂x.
→ Incompatible con ataques white-box (CaFA).
→ Compatible con ataques black-box
   (HopSkipJump, BoundaryAttack, SquareAttack).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868680"/>
            <a:ext cx="434340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79" y="8961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ESPECIFICACIONES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Tipo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XGBClassifier (xgboost)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166420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Estimadores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166420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n_estimators: HPO 100–600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206654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Prof. max.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206654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max_depth: HPO 3–10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Learning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554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[0.01, 0.3]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28712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Objetivo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287121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binary:logistic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3273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Métrica eval.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2735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AUC-PR (aucpr)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36758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Desbalance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scale_pos_weight
= class_weight_minority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40782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min_child_weight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40782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[1, 20]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subsample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554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[0.5, 1.0]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79" y="48828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colsample_bytree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8828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HPO: [0.5, 1.0]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6679" y="5285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HPO trials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5285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30 (Optuna TPE, seed=42)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79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Diferenciable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55480" y="5687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✗  No — solo black-box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35240" y="5559552"/>
            <a:ext cx="4206240" cy="1005840"/>
          </a:xfrm>
          <a:prstGeom prst="roundRect">
            <a:avLst/>
          </a:prstGeom>
          <a:solidFill>
            <a:srgbClr val="2A18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26679" y="557784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</a:rPr>
              <a:t>XGBoost es el modelo más robusto en escenarios con desbalance extremo gracias a scale_pos_weight. Al no ser diferenciable, solo puede ser evaluado con ataques de caja negra.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01168"/>
            <a:ext cx="54864" cy="5120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164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Comparativa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4937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Resumen de capacidades, compatibilidad con ataques y características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Modelos de Clasificación para Detección de Fraude Financiero  ·  Framework Adversarial CaFA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868680"/>
            <a:ext cx="11750040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2505456" cy="384048"/>
          </a:xfrm>
          <a:prstGeom prst="rect">
            <a:avLst/>
          </a:prstGeom>
          <a:solidFill>
            <a:srgbClr val="172438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60704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Característica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024128"/>
            <a:ext cx="2048255" cy="384048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060704"/>
            <a:ext cx="20482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Log. Reg.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024128"/>
            <a:ext cx="2048255" cy="384048"/>
          </a:xfrm>
          <a:prstGeom prst="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1060704"/>
            <a:ext cx="20482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</a:rPr>
              <a:t>MLP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599" y="1024128"/>
            <a:ext cx="2048255" cy="384048"/>
          </a:xfrm>
          <a:prstGeom prst="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599" y="1060704"/>
            <a:ext cx="20482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LSTM-Att.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024128"/>
            <a:ext cx="2048255" cy="384048"/>
          </a:xfrm>
          <a:prstGeom prst="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060704"/>
            <a:ext cx="204825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XGBoost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48132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49961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Tipo de modelo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4813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4996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Lineal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79" y="14813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14996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Red neuronal
feed-forward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599" y="14813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599" y="14996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Red recurrente
+ Atención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19" y="14813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14996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Ensamble
árboles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84708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86537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Capas / Profund.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18470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18653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1 capa (lineal)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79" y="18470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18653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3 ocultas × 128
(configurable)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599" y="18470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599" y="18653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2 LSTM × 64
(configurable)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19" y="18470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18653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100 árboles
prof. 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21284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23113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Activación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221284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223113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Softmax (salida)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83479" y="221284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79" y="223113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ReLU + Softmax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599" y="221284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599" y="223113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tanh + Softmax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19" y="221284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223113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Funciones
escalón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57860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259689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Diferenciable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257860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360" y="25968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  Sí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79" y="257860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79" y="25968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  Sí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86599" y="257860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599" y="25968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  Sí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19" y="257860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19" y="25968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87185"/>
                </a:solidFill>
              </a:rPr>
              <a:t>✗  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294436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296265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CaFA (white-box)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80360" y="294436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80360" y="29626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79" y="294436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83479" y="29626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86599" y="294436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86599" y="29626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19" y="294436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19" y="29626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87185"/>
                </a:solidFill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331012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32841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HopSkipJump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80360" y="331012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33284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83479" y="331012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3479" y="33284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6599" y="331012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6599" y="33284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89719" y="331012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89719" y="33284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67588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369417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BoundaryAttack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367588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80360" y="36941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83479" y="367588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83479" y="36941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86599" y="367588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86599" y="36941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9719" y="367588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89719" y="36941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404164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4059935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SquareAttack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80360" y="404164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80360" y="4059935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83479" y="404164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83479" y="4059935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86599" y="404164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86599" y="4059935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89719" y="404164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89719" y="4059935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440740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442569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Desbalance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880360" y="440740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80360" y="44256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class_weight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983479" y="440740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983479" y="44256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class_weight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599" y="440740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86599" y="44256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class_weight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89719" y="440740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89719" y="442569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scale_pos_weight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" y="477316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" y="479145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SMOTE requerido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880360" y="477316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80360" y="47914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Opcional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79" y="477316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983479" y="47914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Necesario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86599" y="477316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86599" y="47914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Necesario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189719" y="477316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89719" y="479145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Opcional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20040" y="5138928"/>
            <a:ext cx="2505456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" y="515721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Optimizador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880360" y="51389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880360" y="51572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Adam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983479" y="51389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983479" y="51572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Adam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86599" y="51389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086599" y="51572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Adam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89719" y="5138928"/>
            <a:ext cx="2048255" cy="347472"/>
          </a:xfrm>
          <a:prstGeom prst="rect">
            <a:avLst/>
          </a:prstGeom>
          <a:solidFill>
            <a:srgbClr val="172235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189719" y="515721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XGBoost (HPO)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0040" y="5504688"/>
            <a:ext cx="25054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552297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4A3B8"/>
                </a:solidFill>
              </a:rPr>
              <a:t>HPO tool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880360" y="55046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880360" y="55229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Optuna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983479" y="55046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983479" y="55229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Optuna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86599" y="55046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86599" y="55229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78BFA"/>
                </a:solidFill>
              </a:rPr>
              <a:t>Optuna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89719" y="5504688"/>
            <a:ext cx="2048255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89719" y="5522976"/>
            <a:ext cx="20482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Optuna TPE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